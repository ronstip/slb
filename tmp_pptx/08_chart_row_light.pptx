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06573"/>
              </a:solidFill>
            </c:spPr>
          </c:dPt>
          <c:dPt>
            <c:idx val="1"/>
            <c:spPr>
              <a:solidFill>
                <a:srgbClr val="618D9E"/>
              </a:solidFill>
            </c:spPr>
          </c:dPt>
          <c:dPt>
            <c:idx val="2"/>
            <c:spPr>
              <a:solidFill>
                <a:srgbClr val="2B4954"/>
              </a:solidFill>
            </c:spPr>
          </c:dPt>
          <c:cat>
            <c:strRef>
              <c:f>Sheet1!$A$2:$A$4</c:f>
              <c:strCache>
                <c:ptCount val="3"/>
                <c:pt idx="0">
                  <c:v>Pos</c:v>
                </c:pt>
                <c:pt idx="1">
                  <c:v>Neg</c:v>
                </c:pt>
                <c:pt idx="2">
                  <c:v>Neutral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45.0</c:v>
                </c:pt>
                <c:pt idx="1">
                  <c:v>30.0</c:v>
                </c:pt>
                <c:pt idx="2">
                  <c:v>25.0</c:v>
                </c:pt>
              </c:numCache>
            </c:numRef>
          </c:val>
        </c:ser>
      </c:pieChart>
      <c:spPr>
        <a:noFill/>
      </c:spPr>
    </c:plotArea>
    <c:legend>
      <c:legendPos val="tr"/>
      <c:overlay val="0"/>
      <c:txPr>
        <a:bodyPr/>
        <a:lstStyle/>
        <a:p>
          <a:r>
            <a:rPr sz="900">
              <a:solidFill>
                <a:srgbClr val="737373"/>
              </a:solidFill>
            </a:rPr>
          </a: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2B4954"/>
              </a:solidFill>
            </c:spPr>
          </c:dPt>
          <c:dPt>
            <c:idx val="1"/>
            <c:spPr>
              <a:solidFill>
                <a:srgbClr val="8DA6AF"/>
              </a:solidFill>
            </c:spPr>
          </c:dPt>
          <c:dPt>
            <c:idx val="2"/>
            <c:spPr>
              <a:solidFill>
                <a:srgbClr val="557581"/>
              </a:solidFill>
            </c:spPr>
          </c:dPt>
          <c:cat>
            <c:strRef>
              <c:f>Sheet1!$A$2:$A$4</c:f>
              <c:strCache>
                <c:ptCount val="3"/>
                <c:pt idx="0">
                  <c:v>TikTok</c:v>
                </c:pt>
                <c:pt idx="1">
                  <c:v>YouTube</c:v>
                </c:pt>
                <c:pt idx="2">
                  <c:v>Reddit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5000000.0</c:v>
                </c:pt>
                <c:pt idx="1">
                  <c:v>3000000.0</c:v>
                </c:pt>
                <c:pt idx="2">
                  <c:v>1200000.0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  <c:txPr>
          <a:bodyPr/>
          <a:lstStyle/>
          <a:p>
            <a:r>
              <a:rPr sz="800">
                <a:solidFill>
                  <a:srgbClr val="737373"/>
                </a:solidFill>
              </a:rPr>
            </a:r>
          </a:p>
        </c:txPr>
        <c:spPr>
          <a:ln>
            <a:noFill/>
          </a:ln>
        </c:spPr>
      </c:catAx>
      <c:valAx>
        <c:axId val="-2113994440"/>
        <c:scaling/>
        <c:delete val="0"/>
        <c:axPos val="b"/>
        <c:majorGridlines>
          <c:spPr>
            <a:ln>
              <a:solidFill>
                <a:srgbClr val="E5E5E5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  <c:txPr>
          <a:bodyPr/>
          <a:lstStyle/>
          <a:p>
            <a:r>
              <a:rPr sz="800">
                <a:solidFill>
                  <a:srgbClr val="737373"/>
                </a:solidFill>
              </a:rPr>
            </a:r>
          </a:p>
        </c:txPr>
        <c:spPr>
          <a:ln>
            <a:noFill/>
          </a:ln>
        </c:spPr>
      </c:valAx>
      <c:spPr>
        <a:noFill/>
      </c:spPr>
    </c:plotArea>
    <c:legend>
      <c:legendPos val="tr"/>
      <c:overlay val="0"/>
      <c:txPr>
        <a:bodyPr/>
        <a:lstStyle/>
        <a:p>
          <a:r>
            <a:rPr sz="900">
              <a:solidFill>
                <a:srgbClr val="737373"/>
              </a:solidFill>
            </a:rPr>
          </a: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Inter"/>
              </a:rPr>
              <a:t>Platform &amp; Sentiment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25252"/>
                </a:solidFill>
                <a:latin typeface="Inter"/>
              </a:rPr>
              <a:t>Sentiment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371600"/>
          <a:ext cx="5212080" cy="4983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972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25252"/>
                </a:solidFill>
                <a:latin typeface="Inter"/>
              </a:rPr>
              <a:t>Platform Reach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0" y="1371600"/>
          <a:ext cx="5212080" cy="4983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Oval 8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557581"/>
          </a:solidFill>
          <a:ln>
            <a:solidFill>
              <a:srgbClr val="557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618D9E"/>
          </a:solidFill>
          <a:ln>
            <a:solidFill>
              <a:srgbClr val="618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8DA6AF"/>
          </a:solidFill>
          <a:ln>
            <a:solidFill>
              <a:srgbClr val="8DA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4A7C8F"/>
          </a:solidFill>
          <a:ln>
            <a:solidFill>
              <a:srgbClr val="4A7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25252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