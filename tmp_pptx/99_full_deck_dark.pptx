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2BD4EE"/>
              </a:solidFill>
            </c:spPr>
          </c:dPt>
          <c:dPt>
            <c:idx val="1"/>
            <c:spPr>
              <a:solidFill>
                <a:srgbClr val="81D7E4"/>
              </a:solidFill>
            </c:spPr>
          </c:dPt>
          <c:dPt>
            <c:idx val="2"/>
            <c:spPr>
              <a:solidFill>
                <a:srgbClr val="0FA6BD"/>
              </a:solidFill>
            </c:spPr>
          </c:dPt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41.5</c:v>
                </c:pt>
                <c:pt idx="1">
                  <c:v>34.0</c:v>
                </c:pt>
                <c:pt idx="2">
                  <c:v>24.5</c:v>
                </c:pt>
              </c:numCache>
            </c:numRef>
          </c:val>
        </c:ser>
      </c:pieChart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A1A1A1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FA6BD"/>
              </a:solidFill>
            </c:spPr>
          </c:dPt>
          <c:dPt>
            <c:idx val="1"/>
            <c:spPr>
              <a:solidFill>
                <a:srgbClr val="6CC3D0"/>
              </a:solidFill>
            </c:spPr>
          </c:dPt>
          <c:dPt>
            <c:idx val="2"/>
            <c:spPr>
              <a:solidFill>
                <a:srgbClr val="21BCD4"/>
              </a:solidFill>
            </c:spPr>
          </c:dPt>
          <c:cat>
            <c:strRef>
              <c:f>Sheet1!$A$2:$A$4</c:f>
              <c:strCache>
                <c:ptCount val="3"/>
                <c:pt idx="0">
                  <c:v>Reddit</c:v>
                </c:pt>
                <c:pt idx="1">
                  <c:v>TikTok</c:v>
                </c:pt>
                <c:pt idx="2">
                  <c:v>YouTube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50000.0</c:v>
                </c:pt>
                <c:pt idx="1">
                  <c:v>850000.0</c:v>
                </c:pt>
                <c:pt idx="2">
                  <c:v>1000000.0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r>
              <a:rPr sz="800">
                <a:solidFill>
                  <a:srgbClr val="A1A1A1"/>
                </a:solidFill>
              </a:rPr>
            </a:r>
          </a:p>
        </c:txPr>
        <c:spPr>
          <a:ln>
            <a:noFill/>
          </a:ln>
        </c:spPr>
      </c:catAx>
      <c:valAx>
        <c:axId val="-2113994440"/>
        <c:scaling/>
        <c:delete val="0"/>
        <c:axPos val="b"/>
        <c:majorGridlines>
          <c:spPr>
            <a:ln>
              <a:solidFill>
                <a:srgbClr val="2E2E2E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  <c:txPr>
          <a:bodyPr/>
          <a:lstStyle/>
          <a:p>
            <a:r>
              <a:rPr sz="800">
                <a:solidFill>
                  <a:srgbClr val="A1A1A1"/>
                </a:solidFill>
              </a:rPr>
            </a:r>
          </a:p>
        </c:txPr>
        <c:spPr>
          <a:ln>
            <a:noFill/>
          </a:ln>
        </c:spPr>
      </c:valAx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A1A1A1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09751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EDEDED"/>
                </a:solidFill>
                <a:latin typeface="Inter"/>
              </a:rPr>
              <a:t>OpenClaw Ecosystem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2D3EE"/>
                </a:solidFill>
                <a:latin typeface="Inter"/>
              </a:rPr>
              <a:t>Q1 2026 — TikTok &amp; YouTube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49039"/>
            <a:ext cx="5486400" cy="1371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1732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41732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4,821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Total Posts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12.4M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Total 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41732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141732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38.2%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Positive Sentiment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417320"/>
            <a:ext cx="2377440" cy="2011680"/>
          </a:xfrm>
          <a:prstGeom prst="rect">
            <a:avLst/>
          </a:prstGeom>
          <a:solidFill>
            <a:srgbClr val="171717"/>
          </a:solidFill>
          <a:ln w="952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600200"/>
            <a:ext cx="2157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Inter"/>
              </a:rPr>
              <a:t>1,240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791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1A1A1"/>
                </a:solidFill>
                <a:latin typeface="Inter"/>
              </a:rPr>
              <a:t>Avg Engagement</a:t>
            </a:r>
          </a:p>
        </p:txBody>
      </p:sp>
      <p:sp>
        <p:nvSpPr>
          <p:cNvPr id="21" name="Oval 20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Platform &amp; Sentiment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1A1A1"/>
                </a:solidFill>
                <a:latin typeface="Inter"/>
              </a:rPr>
              <a:t>Sentiment Breakdown (Posts)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371600"/>
          <a:ext cx="521208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97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1A1A1"/>
                </a:solidFill>
                <a:latin typeface="Inter"/>
              </a:rPr>
              <a:t>Reach by Platform (Views)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1371600"/>
          <a:ext cx="5212080" cy="4983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Oval 8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Primary Narratives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22D3EE"/>
                </a:solidFill>
                <a:latin typeface="Inter"/>
              </a:rPr>
              <a:t>▸  </a:t>
            </a:r>
            <a:r>
              <a:rPr sz="1400" b="0" i="0">
                <a:solidFill>
                  <a:srgbClr val="EDEDED"/>
                </a:solidFill>
                <a:latin typeface="Inter"/>
              </a:rPr>
              <a:t>*Political Polarization**: Satire on Trump drives massive views but triggers 41.5% negative sentiment.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22D3EE"/>
                </a:solidFill>
                <a:latin typeface="Inter"/>
              </a:rPr>
              <a:t>▸  </a:t>
            </a:r>
            <a:r>
              <a:rPr sz="1400" b="0" i="0">
                <a:solidFill>
                  <a:srgbClr val="EDEDED"/>
                </a:solidFill>
                <a:latin typeface="Inter"/>
              </a:rPr>
              <a:t>*The 2026 Farewell**: Reddit is the epicenter of critical discourse on the show ending.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22D3EE"/>
                </a:solidFill>
                <a:latin typeface="Inter"/>
              </a:rPr>
              <a:t>▸  </a:t>
            </a:r>
            <a:r>
              <a:rPr sz="1400" b="0" i="0">
                <a:solidFill>
                  <a:srgbClr val="EDEDED"/>
                </a:solidFill>
                <a:latin typeface="Inter"/>
              </a:rPr>
              <a:t>*Celebrity Halo Effect**: Interactions with Jimmy Fallon provide the strongest positive lift.</a:t>
            </a:r>
          </a:p>
        </p:txBody>
      </p:sp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The Polarization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10515600" cy="4663440"/>
          </a:xfrm>
          <a:prstGeom prst="rect">
            <a:avLst/>
          </a:prstGeom>
          <a:solidFill>
            <a:srgbClr val="171717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1560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22D3EE"/>
                </a:solidFill>
                <a:latin typeface="Inter"/>
              </a:rPr>
              <a:t>⚡ SURPRISING SIGNAL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EDEDED"/>
                </a:solidFill>
                <a:latin typeface="Inter"/>
              </a:rPr>
              <a:t>Political monologues generate </a:t>
            </a:r>
            <a:r>
              <a:rPr sz="1700" b="1" i="0">
                <a:solidFill>
                  <a:srgbClr val="06B2CD"/>
                </a:solidFill>
                <a:latin typeface="Inter"/>
              </a:rPr>
              <a:t>over 99% of total reach</a:t>
            </a:r>
            <a:r>
              <a:rPr sz="1700" b="0" i="0">
                <a:solidFill>
                  <a:srgbClr val="EDEDED"/>
                </a:solidFill>
                <a:latin typeface="Inter"/>
              </a:rPr>
              <a:t> but also account for nearly all of the </a:t>
            </a:r>
            <a:r>
              <a:rPr sz="1700" b="1" i="0">
                <a:solidFill>
                  <a:srgbClr val="06B2CD"/>
                </a:solidFill>
                <a:latin typeface="Inter"/>
              </a:rPr>
              <a:t>41.5% negative sentiment</a:t>
            </a:r>
            <a:r>
              <a:rPr sz="1700" b="0" i="0">
                <a:solidFill>
                  <a:srgbClr val="EDEDED"/>
                </a:solidFill>
                <a:latin typeface="Inter"/>
              </a:rPr>
              <a:t>, illustrating a high-risk, high-reward content strategy.</a:t>
            </a:r>
          </a:p>
        </p:txBody>
      </p:sp>
      <p:sp>
        <p:nvSpPr>
          <p:cNvPr id="8" name="Oval 7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EDEDED"/>
                </a:solidFill>
                <a:latin typeface="Inter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D3EE"/>
                </a:solidFill>
                <a:latin typeface="Inter"/>
              </a:rPr>
              <a:t>Lean into political satire for reach — invest in community management to contain the sentiment fallout.</a:t>
            </a:r>
          </a:p>
        </p:txBody>
      </p:sp>
      <p:sp>
        <p:nvSpPr>
          <p:cNvPr id="6" name="Oval 5"/>
          <p:cNvSpPr/>
          <p:nvPr/>
        </p:nvSpPr>
        <p:spPr>
          <a:xfrm>
            <a:off x="5143500" y="6135624"/>
            <a:ext cx="256032" cy="25603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71664" y="6163788"/>
            <a:ext cx="199704" cy="19970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99828" y="6191952"/>
            <a:ext cx="143376" cy="143376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5271516" y="6259068"/>
            <a:ext cx="72416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5271516" y="6259068"/>
            <a:ext cx="80963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5271516" y="6259068"/>
            <a:ext cx="72416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2722" y="6182434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18325" y="625924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90310" y="6284846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1516" y="6203640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4396" y="61264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