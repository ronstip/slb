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Volume</c:v>
                </c:pt>
              </c:strCache>
            </c:strRef>
          </c:tx>
          <c:marker>
            <c:symbol val="none"/>
          </c:marker>
          <c:dPt>
            <c:idx val="0"/>
            <c:spPr>
              <a:solidFill>
                <a:srgbClr val="406573"/>
              </a:solidFill>
            </c:spPr>
          </c:dPt>
          <c:dPt>
            <c:idx val="1"/>
            <c:spPr>
              <a:solidFill>
                <a:srgbClr val="618D9E"/>
              </a:solidFill>
            </c:spPr>
          </c:dPt>
          <c:dPt>
            <c:idx val="2"/>
            <c:spPr>
              <a:solidFill>
                <a:srgbClr val="2B4954"/>
              </a:solidFill>
            </c:spPr>
          </c:dPt>
          <c:dPt>
            <c:idx val="3"/>
            <c:spPr>
              <a:solidFill>
                <a:srgbClr val="8DA6AF"/>
              </a:solidFill>
            </c:spPr>
          </c:dPt>
          <c:dPt>
            <c:idx val="4"/>
            <c:spPr>
              <a:solidFill>
                <a:srgbClr val="557581"/>
              </a:solidFill>
            </c:spPr>
          </c:dPt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100.0</c:v>
                </c:pt>
                <c:pt idx="1">
                  <c:v>200.0</c:v>
                </c:pt>
                <c:pt idx="2">
                  <c:v>180.0</c:v>
                </c:pt>
                <c:pt idx="3">
                  <c:v>310.0</c:v>
                </c:pt>
                <c:pt idx="4">
                  <c:v>280.0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  <c:txPr>
          <a:bodyPr/>
          <a:lstStyle/>
          <a:p>
            <a:r>
              <a:rPr sz="800">
                <a:solidFill>
                  <a:srgbClr val="737373"/>
                </a:solidFill>
              </a:rPr>
            </a:r>
          </a:p>
        </c:txPr>
        <c:spPr>
          <a:ln>
            <a:noFill/>
          </a:ln>
        </c:spPr>
      </c:catAx>
      <c:valAx>
        <c:axId val="2140495176"/>
        <c:scaling/>
        <c:delete val="0"/>
        <c:axPos val="l"/>
        <c:majorGridlines>
          <c:spPr>
            <a:ln>
              <a:solidFill>
                <a:srgbClr val="E5E5E5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  <c:txPr>
          <a:bodyPr/>
          <a:lstStyle/>
          <a:p>
            <a:r>
              <a:rPr sz="800">
                <a:solidFill>
                  <a:srgbClr val="737373"/>
                </a:solidFill>
              </a:rPr>
            </a:r>
          </a:p>
        </c:txPr>
        <c:spPr>
          <a:ln>
            <a:noFill/>
          </a:ln>
        </c:spPr>
      </c:valAx>
      <c:spPr>
        <a:noFill/>
      </c:spPr>
    </c:plotArea>
    <c:legend>
      <c:legendPos val="tr"/>
      <c:layout/>
      <c:overlay val="0"/>
      <c:txPr>
        <a:bodyPr/>
        <a:lstStyle/>
        <a:p>
          <a:r>
            <a:rPr sz="900">
              <a:solidFill>
                <a:srgbClr val="737373"/>
              </a:solidFill>
            </a:rPr>
          </a: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</c:spPr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0A0A"/>
                </a:solidFill>
                <a:latin typeface="Inter"/>
              </a:rPr>
              <a:t>Volume Over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61288"/>
            <a:ext cx="10515600" cy="13716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371600"/>
          <a:ext cx="10515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Oval 5"/>
          <p:cNvSpPr/>
          <p:nvPr/>
        </p:nvSpPr>
        <p:spPr>
          <a:xfrm>
            <a:off x="11814048" y="6551676"/>
            <a:ext cx="210312" cy="210312"/>
          </a:xfrm>
          <a:prstGeom prst="ellipse">
            <a:avLst/>
          </a:prstGeom>
          <a:noFill/>
          <a:ln w="762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37183" y="6574811"/>
            <a:ext cx="164042" cy="164042"/>
          </a:xfrm>
          <a:prstGeom prst="ellipse">
            <a:avLst/>
          </a:prstGeom>
          <a:noFill/>
          <a:ln w="762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60317" y="6597945"/>
            <a:ext cx="117774" cy="117774"/>
          </a:xfrm>
          <a:prstGeom prst="ellipse">
            <a:avLst/>
          </a:prstGeom>
          <a:noFill/>
          <a:ln w="762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8900000">
            <a:off x="11919204" y="6652260"/>
            <a:ext cx="59484" cy="9144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106097">
            <a:off x="11919204" y="6652260"/>
            <a:ext cx="66505" cy="9144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8100000">
            <a:off x="11919204" y="6652260"/>
            <a:ext cx="59484" cy="9144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931266" y="6584770"/>
            <a:ext cx="60000" cy="60000"/>
          </a:xfrm>
          <a:prstGeom prst="ellipse">
            <a:avLst/>
          </a:prstGeom>
          <a:solidFill>
            <a:srgbClr val="557581"/>
          </a:solidFill>
          <a:ln>
            <a:solidFill>
              <a:srgbClr val="557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952297" y="6647863"/>
            <a:ext cx="60000" cy="60000"/>
          </a:xfrm>
          <a:prstGeom prst="ellipse">
            <a:avLst/>
          </a:prstGeom>
          <a:solidFill>
            <a:srgbClr val="618D9E"/>
          </a:solidFill>
          <a:ln>
            <a:solidFill>
              <a:srgbClr val="618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847142" y="6668894"/>
            <a:ext cx="60000" cy="60000"/>
          </a:xfrm>
          <a:prstGeom prst="ellipse">
            <a:avLst/>
          </a:prstGeom>
          <a:solidFill>
            <a:srgbClr val="8DA6AF"/>
          </a:solidFill>
          <a:ln>
            <a:solidFill>
              <a:srgbClr val="8DA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59204" y="6596832"/>
            <a:ext cx="120000" cy="120000"/>
          </a:xfrm>
          <a:prstGeom prst="ellipse">
            <a:avLst/>
          </a:prstGeom>
          <a:solidFill>
            <a:srgbClr val="4A7C8F"/>
          </a:solidFill>
          <a:ln>
            <a:solidFill>
              <a:srgbClr val="4A7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85832" y="653796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525252"/>
                </a:solidFill>
                <a:latin typeface="Inter"/>
              </a:rPr>
              <a:t>Powered by Veille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